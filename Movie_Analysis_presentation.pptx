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7" d="100"/>
          <a:sy n="87" d="100"/>
        </p:scale>
        <p:origin x="499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Median domestic gross ($M)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Animation</c:v>
                </c:pt>
                <c:pt idx="1">
                  <c:v>Sci-Fi</c:v>
                </c:pt>
                <c:pt idx="2">
                  <c:v>Adventure</c:v>
                </c:pt>
                <c:pt idx="3">
                  <c:v>Family</c:v>
                </c:pt>
                <c:pt idx="4">
                  <c:v>Fantasy</c:v>
                </c:pt>
                <c:pt idx="5">
                  <c:v>Action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85.9</c:v>
                </c:pt>
                <c:pt idx="1">
                  <c:v>79.2</c:v>
                </c:pt>
                <c:pt idx="2">
                  <c:v>64.7</c:v>
                </c:pt>
                <c:pt idx="3">
                  <c:v>43.9</c:v>
                </c:pt>
                <c:pt idx="4">
                  <c:v>31.1</c:v>
                </c:pt>
                <c:pt idx="5">
                  <c:v>25.1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3E-4CE8-BCD0-CE64D1E3B1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movies</c:v>
                </c:pt>
              </c:strCache>
            </c:strRef>
          </c:tx>
          <c:invertIfNegative val="1"/>
          <c:cat>
            <c:strRef>
              <c:f>Sheet1!$A$2:$A$9</c:f>
              <c:strCache>
                <c:ptCount val="8"/>
                <c:pt idx="0">
                  <c:v>Drama</c:v>
                </c:pt>
                <c:pt idx="1">
                  <c:v>Comedy</c:v>
                </c:pt>
                <c:pt idx="2">
                  <c:v>Action</c:v>
                </c:pt>
                <c:pt idx="3">
                  <c:v>Adventure</c:v>
                </c:pt>
                <c:pt idx="4">
                  <c:v>Romance</c:v>
                </c:pt>
                <c:pt idx="5">
                  <c:v>Thriller</c:v>
                </c:pt>
                <c:pt idx="6">
                  <c:v>Crime</c:v>
                </c:pt>
                <c:pt idx="7">
                  <c:v>Biography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960</c:v>
                </c:pt>
                <c:pt idx="1">
                  <c:v>655</c:v>
                </c:pt>
                <c:pt idx="2">
                  <c:v>523</c:v>
                </c:pt>
                <c:pt idx="3">
                  <c:v>363</c:v>
                </c:pt>
                <c:pt idx="4">
                  <c:v>299</c:v>
                </c:pt>
                <c:pt idx="5">
                  <c:v>288</c:v>
                </c:pt>
                <c:pt idx="6">
                  <c:v>269</c:v>
                </c:pt>
                <c:pt idx="7">
                  <c:v>189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AD-410E-8B7E-813854FBEB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18-Aug-26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9165101" y="142435"/>
            <a:ext cx="2286000" cy="914400"/>
          </a:xfrm>
          <a:prstGeom prst="roundRect">
            <a:avLst/>
          </a:prstGeom>
          <a:solidFill>
            <a:srgbClr val="1B99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738360" y="1199270"/>
            <a:ext cx="1371600" cy="1371600"/>
          </a:xfrm>
          <a:prstGeom prst="roundRect">
            <a:avLst/>
          </a:prstGeom>
          <a:solidFill>
            <a:srgbClr val="EB6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39280" y="2743200"/>
            <a:ext cx="2651760" cy="914400"/>
          </a:xfrm>
          <a:prstGeom prst="roundRect">
            <a:avLst/>
          </a:prstGeom>
          <a:solidFill>
            <a:srgbClr val="F1B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300" b="1">
                <a:solidFill>
                  <a:srgbClr val="FFFFFF"/>
                </a:solidFill>
              </a:defRPr>
            </a:pPr>
            <a:r>
              <a:rPr dirty="0"/>
              <a:t>Movie Industry</a:t>
            </a:r>
            <a:br>
              <a:rPr dirty="0"/>
            </a:br>
            <a:r>
              <a:rPr dirty="0"/>
              <a:t>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225" y="2880360"/>
            <a:ext cx="7561494" cy="11849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rPr lang="en-US" sz="2800" b="1" dirty="0"/>
              <a:t>Identifying Opportunities for a New Movie Studio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endParaRPr lang="en-US" sz="2800" b="1" dirty="0"/>
          </a:p>
          <a:p>
            <a:pPr>
              <a:defRPr sz="1500">
                <a:solidFill>
                  <a:srgbClr val="FFFFFF"/>
                </a:solidFill>
              </a:defRPr>
            </a:pPr>
            <a:r>
              <a:rPr dirty="0">
                <a:solidFill>
                  <a:schemeClr val="bg1"/>
                </a:solidFill>
              </a:rPr>
              <a:t>Domestic box office • IMDb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15BC26-5497-ACBB-1C36-C9E5A5AC1C28}"/>
              </a:ext>
            </a:extLst>
          </p:cNvPr>
          <p:cNvSpPr txBox="1"/>
          <p:nvPr/>
        </p:nvSpPr>
        <p:spPr>
          <a:xfrm>
            <a:off x="7890217" y="4216790"/>
            <a:ext cx="4075796" cy="24622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7E4F0"/>
                </a:solidFill>
              </a:defRPr>
            </a:pPr>
            <a:r>
              <a:rPr lang="en-US" dirty="0"/>
              <a:t>Presentation : DSF-FT-17- Group 4</a:t>
            </a:r>
          </a:p>
          <a:p>
            <a:pPr marL="457200" indent="-457200">
              <a:buAutoNum type="arabicPeriod"/>
              <a:defRPr sz="2200">
                <a:solidFill>
                  <a:srgbClr val="D7E4F0"/>
                </a:solidFill>
              </a:defRPr>
            </a:pPr>
            <a:r>
              <a:rPr lang="en-US" dirty="0"/>
              <a:t>David Munyaga</a:t>
            </a:r>
          </a:p>
          <a:p>
            <a:pPr marL="457200" indent="-457200">
              <a:buAutoNum type="arabicPeriod"/>
              <a:defRPr sz="2200">
                <a:solidFill>
                  <a:srgbClr val="D7E4F0"/>
                </a:solidFill>
              </a:defRPr>
            </a:pPr>
            <a:r>
              <a:rPr lang="en-US" dirty="0"/>
              <a:t>Nelius </a:t>
            </a:r>
            <a:r>
              <a:rPr lang="en-US" dirty="0" err="1"/>
              <a:t>Githatu</a:t>
            </a:r>
            <a:endParaRPr lang="en-US" dirty="0"/>
          </a:p>
          <a:p>
            <a:pPr marL="457200" indent="-457200">
              <a:buAutoNum type="arabicPeriod"/>
              <a:defRPr sz="2200">
                <a:solidFill>
                  <a:srgbClr val="D7E4F0"/>
                </a:solidFill>
              </a:defRPr>
            </a:pPr>
            <a:r>
              <a:rPr lang="en-US" dirty="0"/>
              <a:t>John Paul</a:t>
            </a:r>
          </a:p>
          <a:p>
            <a:pPr marL="457200" indent="-457200">
              <a:buAutoNum type="arabicPeriod"/>
              <a:defRPr sz="2200">
                <a:solidFill>
                  <a:srgbClr val="D7E4F0"/>
                </a:solidFill>
              </a:defRPr>
            </a:pPr>
            <a:r>
              <a:rPr lang="en-US" dirty="0"/>
              <a:t>Clement Saini</a:t>
            </a:r>
          </a:p>
          <a:p>
            <a:pPr marL="457200" indent="-457200">
              <a:buAutoNum type="arabicPeriod"/>
              <a:defRPr sz="2200">
                <a:solidFill>
                  <a:srgbClr val="D7E4F0"/>
                </a:solidFill>
              </a:defRPr>
            </a:pPr>
            <a:r>
              <a:rPr lang="en-US" dirty="0"/>
              <a:t>Shalom Cheptoo</a:t>
            </a:r>
          </a:p>
          <a:p>
            <a:pPr marL="457200" indent="-457200">
              <a:buAutoNum type="arabicPeriod"/>
              <a:defRPr sz="2200">
                <a:solidFill>
                  <a:srgbClr val="D7E4F0"/>
                </a:solidFill>
              </a:defRPr>
            </a:pPr>
            <a:r>
              <a:rPr lang="en-US" dirty="0"/>
              <a:t>Sam </a:t>
            </a:r>
            <a:r>
              <a:rPr lang="en-US" dirty="0" err="1"/>
              <a:t>Binyanya</a:t>
            </a:r>
            <a:endParaRPr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B6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9728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743"/>
                </a:solidFill>
              </a:defRPr>
            </a:pPr>
            <a:r>
              <a:rPr dirty="0"/>
              <a:t>1. Business Understanding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29000" cy="1645920"/>
          </a:xfrm>
          <a:prstGeom prst="roundRect">
            <a:avLst/>
          </a:prstGeom>
          <a:solidFill>
            <a:srgbClr val="EB6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PROBLEM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rPr dirty="0"/>
              <a:t>A new studio must decide what types of movies to make and how to improve the chance of commercial success.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429000" cy="1645920"/>
          </a:xfrm>
          <a:prstGeom prst="roundRect">
            <a:avLst/>
          </a:prstGeom>
          <a:solidFill>
            <a:srgbClr val="1B99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STAKEHOLDER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rPr dirty="0"/>
              <a:t>The head/management of the new movie studio, who will make production and release decisions.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417320"/>
            <a:ext cx="3429000" cy="1645920"/>
          </a:xfrm>
          <a:prstGeom prst="roundRect">
            <a:avLst/>
          </a:prstGeom>
          <a:solidFill>
            <a:srgbClr val="715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VALUE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rPr dirty="0"/>
              <a:t>Use evidence on genres, ratings, competition and studio performance to guide investment and strategy.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21037" y="4606676"/>
            <a:ext cx="6119446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72B34"/>
                </a:solidFill>
              </a:defRPr>
            </a:pPr>
            <a:r>
              <a:rPr dirty="0"/>
              <a:t>The analysis is designed for a non-technical business audience.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1908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 animBg="1"/>
      <p:bldP spid="8" grpId="0" animBg="1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99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9728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743"/>
                </a:solidFill>
              </a:defRPr>
            </a:pPr>
            <a:r>
              <a:rPr dirty="0"/>
              <a:t>2. Project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1440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B99A3"/>
                </a:solidFill>
              </a:defRPr>
            </a:pPr>
            <a:r>
              <a:rPr dirty="0"/>
              <a:t>Questions the analysis is designed to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332720" cy="219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100"/>
              </a:spcAft>
              <a:buFont typeface="Wingdings" panose="05000000000000000000" pitchFamily="2" charset="2"/>
              <a:buChar char="q"/>
              <a:defRPr sz="2000">
                <a:solidFill>
                  <a:srgbClr val="272B34"/>
                </a:solidFill>
              </a:defRPr>
            </a:pPr>
            <a:r>
              <a:rPr lang="en-US" b="1" dirty="0"/>
              <a:t>1. </a:t>
            </a:r>
            <a:r>
              <a:rPr b="1" dirty="0"/>
              <a:t>Identify movie genres with strong domestic box-office performance.</a:t>
            </a:r>
          </a:p>
          <a:p>
            <a:pPr marL="342900" indent="-342900">
              <a:spcAft>
                <a:spcPts val="1100"/>
              </a:spcAft>
              <a:buFont typeface="Wingdings" panose="05000000000000000000" pitchFamily="2" charset="2"/>
              <a:buChar char="q"/>
              <a:defRPr sz="2000">
                <a:solidFill>
                  <a:srgbClr val="272B34"/>
                </a:solidFill>
              </a:defRPr>
            </a:pPr>
            <a:r>
              <a:rPr lang="en-US" b="1" dirty="0"/>
              <a:t>2. </a:t>
            </a:r>
            <a:r>
              <a:rPr b="1" dirty="0"/>
              <a:t>Examine whether IMDb ratings are associated with domestic box-office success.</a:t>
            </a:r>
          </a:p>
          <a:p>
            <a:pPr marL="342900" indent="-342900">
              <a:spcAft>
                <a:spcPts val="1100"/>
              </a:spcAft>
              <a:buFont typeface="Wingdings" panose="05000000000000000000" pitchFamily="2" charset="2"/>
              <a:buChar char="q"/>
              <a:defRPr sz="2000">
                <a:solidFill>
                  <a:srgbClr val="272B34"/>
                </a:solidFill>
              </a:defRPr>
            </a:pPr>
            <a:r>
              <a:rPr lang="en-US" b="1" dirty="0"/>
              <a:t>3. </a:t>
            </a:r>
            <a:r>
              <a:rPr b="1" dirty="0"/>
              <a:t>Compare domestic box-office performance across studios.</a:t>
            </a:r>
          </a:p>
          <a:p>
            <a:pPr marL="342900" indent="-342900">
              <a:spcAft>
                <a:spcPts val="1100"/>
              </a:spcAft>
              <a:buFont typeface="Wingdings" panose="05000000000000000000" pitchFamily="2" charset="2"/>
              <a:buChar char="q"/>
              <a:defRPr sz="2000">
                <a:solidFill>
                  <a:srgbClr val="272B34"/>
                </a:solidFill>
              </a:defRPr>
            </a:pPr>
            <a:r>
              <a:rPr lang="en-US" b="1" dirty="0"/>
              <a:t>4. </a:t>
            </a:r>
            <a:r>
              <a:rPr b="1" dirty="0"/>
              <a:t>Identify less-saturated genres that may provide opportunities for a new studio.</a:t>
            </a:r>
          </a:p>
          <a:p>
            <a:pPr marL="342900" indent="-342900">
              <a:spcAft>
                <a:spcPts val="1100"/>
              </a:spcAft>
              <a:buFont typeface="Wingdings" panose="05000000000000000000" pitchFamily="2" charset="2"/>
              <a:buChar char="q"/>
              <a:defRPr sz="2000">
                <a:solidFill>
                  <a:srgbClr val="272B34"/>
                </a:solidFill>
              </a:defRPr>
            </a:pPr>
            <a:r>
              <a:rPr lang="en-US" b="1" dirty="0"/>
              <a:t>5. </a:t>
            </a:r>
            <a:r>
              <a:rPr b="1" dirty="0"/>
              <a:t>Turn the findings into actionable recommendations for studio management.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15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9728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743"/>
                </a:solidFill>
              </a:defRPr>
            </a:pPr>
            <a:r>
              <a:rPr dirty="0"/>
              <a:t>3. Data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06647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B99A3"/>
                </a:solidFill>
              </a:defRPr>
            </a:pPr>
            <a:r>
              <a:rPr dirty="0"/>
              <a:t>Sources, dimensions, variables and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1908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D"/>
                </a:solidFill>
              </a:defRPr>
            </a:pPr>
            <a:r>
              <a:t>4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8452CF1B-1D13-0910-8E6D-EF3E114E5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055" y="1290695"/>
            <a:ext cx="8616461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sources: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IMDb and Box Office Mojo.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merged dataset: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1,847 movies with 12 variables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variables: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genre, IMDb rating, number of votes, studio, domestic gross, foreign gross, runtime and release year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Domestic gross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was used as the main measure of movie commercial performance.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Genre and IMDb ratings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helped us examine audience response and genre performance.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Studio and year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provided information about competition and changes in market performance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 contains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missing values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covers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2010–2018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should be considered when interpreting the results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1B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9728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743"/>
                </a:solidFill>
              </a:defRPr>
            </a:pPr>
            <a:r>
              <a:rPr dirty="0"/>
              <a:t>4. Data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1440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B99A3"/>
                </a:solidFill>
              </a:defRPr>
            </a:pPr>
            <a:r>
              <a:rPr dirty="0"/>
              <a:t>Reproducible steps used before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383280" cy="1508760"/>
          </a:xfrm>
          <a:prstGeom prst="roundRect">
            <a:avLst/>
          </a:prstGeom>
          <a:solidFill>
            <a:srgbClr val="1B99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LOAD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rPr dirty="0"/>
              <a:t>Read the movie datasets and IMDb SQLite tables.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325880"/>
            <a:ext cx="3383280" cy="1508760"/>
          </a:xfrm>
          <a:prstGeom prst="roundRect">
            <a:avLst/>
          </a:prstGeom>
          <a:solidFill>
            <a:srgbClr val="715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INSPECT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Checked dimensions, data types and missing values.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325880"/>
            <a:ext cx="3383280" cy="1508760"/>
          </a:xfrm>
          <a:prstGeom prst="roundRect">
            <a:avLst/>
          </a:prstGeom>
          <a:solidFill>
            <a:srgbClr val="EB6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CLEAN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rPr dirty="0"/>
              <a:t>Converted </a:t>
            </a:r>
            <a:r>
              <a:rPr dirty="0" err="1"/>
              <a:t>foreign_gross</a:t>
            </a:r>
            <a:r>
              <a:rPr dirty="0"/>
              <a:t> from mixed object values to numeric.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337560"/>
            <a:ext cx="3383280" cy="1508760"/>
          </a:xfrm>
          <a:prstGeom prst="roundRect">
            <a:avLst/>
          </a:prstGeom>
          <a:solidFill>
            <a:srgbClr val="F1B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MERGE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Combined relevant IMDb and Box Office Mojo records.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3337560"/>
            <a:ext cx="3383280" cy="1508760"/>
          </a:xfrm>
          <a:prstGeom prst="roundRect">
            <a:avLst/>
          </a:prstGeom>
          <a:solidFill>
            <a:srgbClr val="1B99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TRANSFORM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Split multi-genre values into individual genre observations.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3337560"/>
            <a:ext cx="3383280" cy="1508760"/>
          </a:xfrm>
          <a:prstGeom prst="roundRect">
            <a:avLst/>
          </a:prstGeom>
          <a:solidFill>
            <a:srgbClr val="715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SUMMARIZE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rPr dirty="0"/>
              <a:t>Calculated medians, averages and movie counts.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1908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99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9728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743"/>
                </a:solidFill>
              </a:defRPr>
            </a:pPr>
            <a:r>
              <a:rPr dirty="0"/>
              <a:t>5. Data Analysis — Finding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1440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B99A3"/>
                </a:solidFill>
              </a:defRPr>
            </a:pPr>
            <a:r>
              <a:rPr dirty="0"/>
              <a:t>Median domestic gross ($M)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" y="1325880"/>
          <a:ext cx="1069848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789920" y="641908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Graphic spid="6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15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9728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743"/>
                </a:solidFill>
              </a:defRPr>
            </a:pPr>
            <a:r>
              <a:rPr dirty="0"/>
              <a:t>5. Data Analysis — Finding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1440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B99A3"/>
                </a:solidFill>
              </a:defRPr>
            </a:pPr>
            <a:r>
              <a:rPr dirty="0"/>
              <a:t>IMDb ratings provide context, but they do not guarantee box-office success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108960" cy="1463040"/>
          </a:xfrm>
          <a:prstGeom prst="roundRect">
            <a:avLst/>
          </a:prstGeom>
          <a:solidFill>
            <a:srgbClr val="715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DOCUMENTARY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rPr dirty="0"/>
              <a:t>Median rating: 7.4</a:t>
            </a:r>
            <a:br>
              <a:rPr dirty="0"/>
            </a:br>
            <a:r>
              <a:rPr dirty="0"/>
              <a:t>Median gross: $527,500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417320"/>
            <a:ext cx="3108960" cy="1463040"/>
          </a:xfrm>
          <a:prstGeom prst="roundRect">
            <a:avLst/>
          </a:prstGeom>
          <a:solidFill>
            <a:srgbClr val="1B99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ANIMATION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Median rating: 6.7</a:t>
            </a:r>
            <a:br/>
            <a:r>
              <a:t>Median gross: $85.9M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417320"/>
            <a:ext cx="3108960" cy="1463040"/>
          </a:xfrm>
          <a:prstGeom prst="roundRect">
            <a:avLst/>
          </a:prstGeom>
          <a:solidFill>
            <a:srgbClr val="EB6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TAKEAWAY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rPr dirty="0"/>
              <a:t>Use ratings with other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29000"/>
            <a:ext cx="10241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72B34"/>
                </a:solidFill>
              </a:defRPr>
            </a:pPr>
            <a:r>
              <a:rPr dirty="0"/>
              <a:t>The rating-versus-gross visualization showed substantial variation in domestic gross across rating levels.</a:t>
            </a:r>
          </a:p>
          <a:p>
            <a:pPr>
              <a:spcAft>
                <a:spcPts val="1100"/>
              </a:spcAft>
              <a:defRPr sz="1700">
                <a:solidFill>
                  <a:srgbClr val="272B34"/>
                </a:solidFill>
              </a:defRPr>
            </a:pPr>
            <a:r>
              <a:rPr dirty="0"/>
              <a:t>Highly rated movies can perform very differently financially.</a:t>
            </a:r>
          </a:p>
          <a:p>
            <a:pPr>
              <a:spcAft>
                <a:spcPts val="1100"/>
              </a:spcAft>
              <a:defRPr sz="1700">
                <a:solidFill>
                  <a:srgbClr val="272B34"/>
                </a:solidFill>
              </a:defRPr>
            </a:pPr>
            <a:r>
              <a:rPr dirty="0"/>
              <a:t>Recommendation implication: prioritize audience appeal and quality, but do not green-light projects using IMDb rating alone.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1908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8" grpId="0" animBg="1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9096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15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9728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743"/>
                </a:solidFill>
              </a:defRPr>
            </a:pPr>
            <a:r>
              <a:rPr dirty="0"/>
              <a:t>5. Data Analysis — Findings 3 &amp;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1440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B99A3"/>
                </a:solidFill>
              </a:defRPr>
            </a:pPr>
            <a:r>
              <a:rPr dirty="0"/>
              <a:t>Market concentration by genre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" y="1325880"/>
          <a:ext cx="1069848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789920" y="641908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Graphic spid="6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B6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9728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743"/>
                </a:solidFill>
              </a:defRPr>
            </a:pPr>
            <a:r>
              <a:rPr dirty="0"/>
              <a:t>5. Data Analysis — Finding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1440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B99A3"/>
                </a:solidFill>
              </a:defRPr>
            </a:pPr>
            <a:r>
              <a:rPr dirty="0"/>
              <a:t>Studio performance and market timing add strategic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7040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72B34"/>
                </a:solidFill>
              </a:defRPr>
            </a:pPr>
            <a:r>
              <a:rPr dirty="0"/>
              <a:t>Studio comparison: P/DW and BV were among the stronger performers by median domestic gross in our selected analysis.</a:t>
            </a:r>
          </a:p>
          <a:p>
            <a:pPr>
              <a:spcAft>
                <a:spcPts val="1100"/>
              </a:spcAft>
              <a:defRPr sz="1800">
                <a:solidFill>
                  <a:srgbClr val="272B34"/>
                </a:solidFill>
              </a:defRPr>
            </a:pPr>
            <a:r>
              <a:rPr dirty="0"/>
              <a:t>Yearly median domestic gross varied substantially, falling through 2015 and recovering toward 2018.</a:t>
            </a:r>
          </a:p>
          <a:p>
            <a:pPr>
              <a:spcAft>
                <a:spcPts val="1100"/>
              </a:spcAft>
              <a:defRPr sz="1800">
                <a:solidFill>
                  <a:srgbClr val="272B34"/>
                </a:solidFill>
              </a:defRPr>
            </a:pPr>
            <a:r>
              <a:rPr dirty="0"/>
              <a:t>Together, these results suggest that distribution/release strategy and changing market conditions should be considered alongside movie characteristics.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554480"/>
            <a:ext cx="2834640" cy="2011680"/>
          </a:xfrm>
          <a:prstGeom prst="roundRect">
            <a:avLst/>
          </a:prstGeom>
          <a:solidFill>
            <a:srgbClr val="EB6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BUSINESS SIGNAL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rPr dirty="0"/>
              <a:t>Benchmark successful studios and monitor market conditions.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99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9728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743"/>
                </a:solidFill>
              </a:defRPr>
            </a:pPr>
            <a:r>
              <a:rPr dirty="0"/>
              <a:t>6. Business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14400"/>
            <a:ext cx="3965573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B99A3"/>
                </a:solidFill>
              </a:defRPr>
            </a:pPr>
            <a:r>
              <a:rPr lang="en-US" dirty="0"/>
              <a:t>We came up with f</a:t>
            </a:r>
            <a:r>
              <a:rPr dirty="0"/>
              <a:t>ive actions derived from the finding</a:t>
            </a:r>
            <a:r>
              <a:rPr lang="en-US" dirty="0"/>
              <a:t>s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10789920" cy="777240"/>
          </a:xfrm>
          <a:prstGeom prst="roundRect">
            <a:avLst/>
          </a:prstGeom>
          <a:solidFill>
            <a:srgbClr val="1B99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01  Prioritize high-performing genres — Animation, Sci-Fi, Adventure and Family.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21992"/>
            <a:ext cx="10789920" cy="777240"/>
          </a:xfrm>
          <a:prstGeom prst="roundRect">
            <a:avLst/>
          </a:prstGeom>
          <a:solidFill>
            <a:srgbClr val="EB6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dirty="0"/>
              <a:t>02  Do not rely on ratings alone — Combine audience appeal with commercial and genre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209544"/>
            <a:ext cx="10789920" cy="777240"/>
          </a:xfrm>
          <a:prstGeom prst="roundRect">
            <a:avLst/>
          </a:prstGeom>
          <a:solidFill>
            <a:srgbClr val="715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dirty="0"/>
              <a:t>03  </a:t>
            </a:r>
            <a:r>
              <a:rPr lang="en-US" sz="1500" dirty="0"/>
              <a:t>Learn From Successful Studios </a:t>
            </a:r>
            <a:r>
              <a:rPr dirty="0"/>
              <a:t>— Study distribution and release strategies.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197096"/>
            <a:ext cx="10789920" cy="777240"/>
          </a:xfrm>
          <a:prstGeom prst="roundRect">
            <a:avLst/>
          </a:prstGeom>
          <a:solidFill>
            <a:srgbClr val="F1B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72B34"/>
                </a:solidFill>
              </a:defRPr>
            </a:pPr>
            <a:r>
              <a:t>04  Explore less-saturated opportunities — Look beyond heavily represented Drama, Comedy and 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184648"/>
            <a:ext cx="10789920" cy="777240"/>
          </a:xfrm>
          <a:prstGeom prst="roundRect">
            <a:avLst/>
          </a:prstGeom>
          <a:solidFill>
            <a:srgbClr val="1B99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dirty="0"/>
              <a:t>05  </a:t>
            </a:r>
            <a:r>
              <a:rPr lang="en-US" sz="1500" dirty="0"/>
              <a:t>Look for opportunities where performance and competition balance well</a:t>
            </a:r>
          </a:p>
          <a:p>
            <a:pPr algn="ctr">
              <a:defRPr sz="1500" b="1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10789920" y="641908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D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1B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9728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743"/>
                </a:solidFill>
              </a:defRPr>
            </a:pPr>
            <a:r>
              <a:rPr dirty="0"/>
              <a:t>7. Business Impact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1440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B99A3"/>
                </a:solidFill>
              </a:defRPr>
            </a:pPr>
            <a:r>
              <a:rPr dirty="0"/>
              <a:t>How the recommendations support the stakeholder — and what the analysis cannot prove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212080" cy="1417320"/>
          </a:xfrm>
          <a:prstGeom prst="roundRect">
            <a:avLst/>
          </a:prstGeom>
          <a:solidFill>
            <a:srgbClr val="1B99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EXPECTED BUSINESS VALUE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Better genre selection, clearer competitive positioning and more evidence-based release planning.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5212080" cy="1417320"/>
          </a:xfrm>
          <a:prstGeom prst="roundRect">
            <a:avLst/>
          </a:prstGeom>
          <a:solidFill>
            <a:srgbClr val="EB6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IMPORTANT LIMITATION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Gross revenue is not profit; costs, marketing spend and production budgets were not analyzed.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272B34"/>
                </a:solidFill>
              </a:defRPr>
            </a:pPr>
            <a:r>
              <a:rPr dirty="0"/>
              <a:t>Other limitations: missing values, reduced merged sample, multi-genre movies and historical data ending in 2018.</a:t>
            </a:r>
          </a:p>
          <a:p>
            <a:pPr>
              <a:spcAft>
                <a:spcPts val="1100"/>
              </a:spcAft>
              <a:defRPr sz="1600">
                <a:solidFill>
                  <a:srgbClr val="272B34"/>
                </a:solidFill>
              </a:defRPr>
            </a:pPr>
            <a:r>
              <a:rPr dirty="0"/>
              <a:t>These findings support strategic screening and prioritization; they should not be treated as guarantees of future box-office results.</a:t>
            </a:r>
          </a:p>
          <a:p>
            <a:pPr>
              <a:spcAft>
                <a:spcPts val="1100"/>
              </a:spcAft>
              <a:defRPr sz="1600">
                <a:solidFill>
                  <a:srgbClr val="272B34"/>
                </a:solidFill>
              </a:defRPr>
            </a:pPr>
            <a:r>
              <a:rPr dirty="0"/>
              <a:t>Implementation should combine this analysis with current market research and project-level financial estimates.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1908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D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1B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9728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8.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1440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B99A3"/>
                </a:solidFill>
              </a:defRPr>
            </a:pPr>
            <a:r>
              <a:rPr dirty="0"/>
              <a:t>A focused, evidence-based market-entry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Choose genres using both earning potential and competitive saturation.</a:t>
            </a:r>
          </a:p>
          <a:p>
            <a:pPr>
              <a:spcAft>
                <a:spcPts val="11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Treat audience ratings as one signal, not a guarantee of revenue.</a:t>
            </a:r>
          </a:p>
          <a:p>
            <a:pPr>
              <a:spcAft>
                <a:spcPts val="11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Learn from successful studio distribution and release strategies.</a:t>
            </a:r>
          </a:p>
          <a:p>
            <a:pPr>
              <a:spcAft>
                <a:spcPts val="11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Use multiple data points before committing production resources.</a:t>
            </a:r>
          </a:p>
          <a:p>
            <a:pPr>
              <a:spcAft>
                <a:spcPts val="11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Final message: enter the market with a focused portfolio and a data-driven decision process.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5532120"/>
            <a:ext cx="5669280" cy="640080"/>
          </a:xfrm>
          <a:prstGeom prst="roundRect">
            <a:avLst/>
          </a:prstGeom>
          <a:solidFill>
            <a:srgbClr val="EB6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Thank you — 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D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1343</TotalTime>
  <Words>834</Words>
  <Application>Microsoft Office PowerPoint</Application>
  <PresentationFormat>Widescreen</PresentationFormat>
  <Paragraphs>114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LEKUIYE_CS</dc:creator>
  <cp:keywords/>
  <dc:description>generated using python-pptx</dc:description>
  <cp:lastModifiedBy>Clement Saini</cp:lastModifiedBy>
  <cp:revision>5</cp:revision>
  <dcterms:created xsi:type="dcterms:W3CDTF">2013-01-27T09:14:16Z</dcterms:created>
  <dcterms:modified xsi:type="dcterms:W3CDTF">2026-08-19T16:02:47Z</dcterms:modified>
  <cp:category/>
</cp:coreProperties>
</file>